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 snapToGrid="0" snapToObjects="1">
      <p:cViewPr>
        <p:scale>
          <a:sx n="66" d="100"/>
          <a:sy n="66" d="100"/>
        </p:scale>
        <p:origin x="1224" y="34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88720" y="1097280"/>
            <a:ext cx="9814255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D9488"/>
                </a:solidFill>
              </a:defRPr>
            </a:pPr>
            <a:r>
              <a:t>AI / ML SPECIALISATION CAPSTONE PROJECT</a:t>
            </a:r>
          </a:p>
          <a:p>
            <a:pPr>
              <a:spcBef>
                <a:spcPts val="1200"/>
              </a:spcBef>
              <a:defRPr sz="3000" b="1">
                <a:solidFill>
                  <a:srgbClr val="FFFFFF"/>
                </a:solidFill>
              </a:defRPr>
            </a:pPr>
            <a:r>
              <a:t>Peripheral Blood Smear White Blood Cell</a:t>
            </a:r>
            <a:br/>
            <a:r>
              <a:t>Classification Using Deep Learning</a:t>
            </a:r>
          </a:p>
          <a:p>
            <a:pPr>
              <a:spcBef>
                <a:spcPts val="800"/>
              </a:spcBef>
              <a:defRPr sz="1400">
                <a:solidFill>
                  <a:srgbClr val="CBD5E1"/>
                </a:solidFill>
              </a:defRPr>
            </a:pPr>
            <a:r>
              <a:t>Automated Morphological Categorization of Leukocyte Subtypes via Custom CNN &amp; Transfer Learning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88720" y="3840480"/>
            <a:ext cx="6217920" cy="1920240"/>
          </a:xfrm>
          <a:prstGeom prst="roundRect">
            <a:avLst/>
          </a:prstGeom>
          <a:solidFill>
            <a:srgbClr val="1A3A6E"/>
          </a:solidFill>
          <a:ln>
            <a:solidFill>
              <a:srgbClr val="2850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219200" y="4123491"/>
            <a:ext cx="6004560" cy="1354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rPr sz="1200" dirty="0"/>
              <a:t>Clinical Problem Statement &amp; Context:</a:t>
            </a:r>
          </a:p>
          <a:p>
            <a:pPr>
              <a:spcBef>
                <a:spcPts val="300"/>
              </a:spcBef>
              <a:defRPr sz="1000">
                <a:solidFill>
                  <a:srgbClr val="E2E8F0"/>
                </a:solidFill>
              </a:defRPr>
            </a:pPr>
            <a:r>
              <a:rPr sz="1200" dirty="0"/>
              <a:t>• White blood cell (WBC) differential analysis is a cornerstone of hematological diagnostics.</a:t>
            </a:r>
          </a:p>
          <a:p>
            <a:pPr>
              <a:spcBef>
                <a:spcPts val="300"/>
              </a:spcBef>
              <a:defRPr sz="1000">
                <a:solidFill>
                  <a:srgbClr val="E2E8F0"/>
                </a:solidFill>
              </a:defRPr>
            </a:pPr>
            <a:r>
              <a:rPr sz="1200" dirty="0"/>
              <a:t>• Manual microscopy is labor-intensive, operator-dependent, and prone to diagnostic fatigue.</a:t>
            </a:r>
          </a:p>
          <a:p>
            <a:pPr>
              <a:spcBef>
                <a:spcPts val="300"/>
              </a:spcBef>
              <a:defRPr sz="1000">
                <a:solidFill>
                  <a:srgbClr val="E2E8F0"/>
                </a:solidFill>
              </a:defRPr>
            </a:pPr>
            <a:r>
              <a:rPr sz="1200" b="1" dirty="0"/>
              <a:t>• Objective: </a:t>
            </a:r>
            <a:r>
              <a:rPr sz="1200" dirty="0"/>
              <a:t>Build an end-to-end computer vision pipeline to classify cropped WBCs into 5 subtypes: Neutrophils, Lymphocytes, Monocytes, Eosinophils, and Basophils.</a:t>
            </a:r>
          </a:p>
          <a:p>
            <a:pPr>
              <a:spcBef>
                <a:spcPts val="300"/>
              </a:spcBef>
              <a:defRPr sz="1000">
                <a:solidFill>
                  <a:srgbClr val="E2E8F0"/>
                </a:solidFill>
              </a:defRPr>
            </a:pPr>
            <a:r>
              <a:rPr sz="1200" b="1" dirty="0"/>
              <a:t>• Clinical Goal: </a:t>
            </a:r>
            <a:r>
              <a:rPr sz="1200" dirty="0"/>
              <a:t>Provide rapid, reproducible decision-support with sub-40ms CPU inference.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589520" y="3840480"/>
            <a:ext cx="3383280" cy="1920240"/>
          </a:xfrm>
          <a:prstGeom prst="roundRect">
            <a:avLst/>
          </a:prstGeom>
          <a:solidFill>
            <a:srgbClr val="1A3A6E"/>
          </a:solidFill>
          <a:ln>
            <a:solidFill>
              <a:srgbClr val="2850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694579" y="4101852"/>
            <a:ext cx="3278221" cy="13388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rPr sz="1400" dirty="0"/>
              <a:t>Project Metadata:</a:t>
            </a:r>
            <a:endParaRPr lang="en-IN" sz="1400" dirty="0"/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rPr lang="en-IN" sz="1400" dirty="0"/>
              <a:t>Presenter: Dr Sigin George</a:t>
            </a:r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rPr lang="en-US" sz="1400" dirty="0"/>
              <a:t>Project Type: Individual Capstone Project</a:t>
            </a:r>
          </a:p>
          <a:p>
            <a:pPr>
              <a:spcBef>
                <a:spcPts val="300"/>
              </a:spcBef>
              <a:defRPr sz="1000">
                <a:solidFill>
                  <a:srgbClr val="E2E8F0"/>
                </a:solidFill>
              </a:defRPr>
            </a:pPr>
            <a:r>
              <a:rPr sz="1050" b="1" dirty="0"/>
              <a:t>Domain:</a:t>
            </a:r>
            <a:r>
              <a:rPr sz="1050" dirty="0"/>
              <a:t> Healthcare AI / Computer Vision</a:t>
            </a:r>
          </a:p>
          <a:p>
            <a:pPr>
              <a:spcBef>
                <a:spcPts val="300"/>
              </a:spcBef>
              <a:defRPr sz="1000">
                <a:solidFill>
                  <a:srgbClr val="E2E8F0"/>
                </a:solidFill>
              </a:defRPr>
            </a:pPr>
            <a:r>
              <a:rPr sz="1050" b="1" dirty="0" err="1"/>
              <a:t>Programme</a:t>
            </a:r>
            <a:r>
              <a:rPr sz="1050" b="1" dirty="0"/>
              <a:t>:</a:t>
            </a:r>
            <a:r>
              <a:rPr sz="1050" dirty="0"/>
              <a:t> Hero </a:t>
            </a:r>
            <a:r>
              <a:rPr sz="1050" dirty="0" err="1"/>
              <a:t>Vired</a:t>
            </a:r>
            <a:r>
              <a:rPr sz="1050" dirty="0"/>
              <a:t> AI/ML </a:t>
            </a:r>
            <a:r>
              <a:rPr sz="1050" dirty="0" err="1"/>
              <a:t>Specialisation</a:t>
            </a:r>
            <a:r>
              <a:rPr lang="en-IN" sz="1050" dirty="0"/>
              <a:t> Batch 3</a:t>
            </a:r>
            <a:endParaRPr sz="1050" dirty="0"/>
          </a:p>
          <a:p>
            <a:pPr>
              <a:spcBef>
                <a:spcPts val="300"/>
              </a:spcBef>
              <a:defRPr sz="1000">
                <a:solidFill>
                  <a:srgbClr val="E2E8F0"/>
                </a:solidFill>
              </a:defRPr>
            </a:pPr>
            <a:r>
              <a:rPr sz="1050" b="1" dirty="0"/>
              <a:t>Framework: </a:t>
            </a:r>
            <a:r>
              <a:rPr sz="1050" dirty="0" err="1"/>
              <a:t>PyTorch</a:t>
            </a:r>
            <a:r>
              <a:rPr sz="1050" dirty="0"/>
              <a:t> 2.14 &amp; </a:t>
            </a:r>
            <a:r>
              <a:rPr sz="1050" dirty="0" err="1"/>
              <a:t>Streamlit</a:t>
            </a:r>
            <a:r>
              <a:rPr sz="1050" dirty="0"/>
              <a:t> 1.66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D9488"/>
                </a:solidFill>
              </a:defRPr>
            </a:pPr>
            <a:r>
              <a:t>AI/ML SPECIALISATION CAPSTONE PROJECT</a:t>
            </a:r>
          </a:p>
          <a:p>
            <a:pPr>
              <a:defRPr sz="2200" b="1">
                <a:solidFill>
                  <a:srgbClr val="0F2B5C"/>
                </a:solidFill>
              </a:defRPr>
            </a:pPr>
            <a:r>
              <a:t>Slide 2: Dataset Source, Access Method, Data Size &amp; Sample Images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07008"/>
            <a:ext cx="10728655" cy="18288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508760"/>
            <a:ext cx="4754880" cy="48115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2B5C"/>
                </a:solidFill>
              </a:defRPr>
            </a:pPr>
            <a:r>
              <a:rPr dirty="0"/>
              <a:t>Dataset Specification &amp; Structure</a:t>
            </a:r>
          </a:p>
          <a:p>
            <a:pPr>
              <a:spcBef>
                <a:spcPts val="400"/>
              </a:spcBef>
              <a:defRPr sz="1000">
                <a:solidFill>
                  <a:srgbClr val="334155"/>
                </a:solidFill>
              </a:defRPr>
            </a:pPr>
            <a:r>
              <a:rPr sz="1400" dirty="0"/>
              <a:t>• Source &amp; Access: White Blood Cells Dataset by Masoud </a:t>
            </a:r>
            <a:r>
              <a:rPr sz="1400" dirty="0" err="1"/>
              <a:t>Nickparvar</a:t>
            </a:r>
            <a:r>
              <a:rPr sz="1400" dirty="0"/>
              <a:t> (Kaggle), derived from the </a:t>
            </a:r>
            <a:r>
              <a:rPr sz="1400" dirty="0" err="1"/>
              <a:t>Raabin</a:t>
            </a:r>
            <a:r>
              <a:rPr sz="1400" dirty="0"/>
              <a:t>-WBC repository (Tavakoli et al., 2021).</a:t>
            </a:r>
          </a:p>
          <a:p>
            <a:pPr>
              <a:spcBef>
                <a:spcPts val="400"/>
              </a:spcBef>
              <a:defRPr sz="1000">
                <a:solidFill>
                  <a:srgbClr val="334155"/>
                </a:solidFill>
              </a:defRPr>
            </a:pPr>
            <a:r>
              <a:rPr sz="1400" dirty="0"/>
              <a:t>• Total Verified Volume: 16,633 RGB images in JPG format (resolutions 492x487 to 575x575 </a:t>
            </a:r>
            <a:r>
              <a:rPr sz="1400" dirty="0" err="1"/>
              <a:t>px</a:t>
            </a:r>
            <a:r>
              <a:rPr sz="1400" dirty="0"/>
              <a:t>). Zero file corruption detected.</a:t>
            </a:r>
          </a:p>
          <a:p>
            <a:pPr>
              <a:spcBef>
                <a:spcPts val="400"/>
              </a:spcBef>
              <a:defRPr sz="1000">
                <a:solidFill>
                  <a:srgbClr val="334155"/>
                </a:solidFill>
              </a:defRPr>
            </a:pPr>
            <a:r>
              <a:rPr sz="1400" dirty="0"/>
              <a:t>• Split Verification: Three distinct directories with 0 cross-split filename leakage:</a:t>
            </a:r>
          </a:p>
          <a:p>
            <a:pPr>
              <a:spcBef>
                <a:spcPts val="400"/>
              </a:spcBef>
              <a:defRPr sz="1000">
                <a:solidFill>
                  <a:srgbClr val="334155"/>
                </a:solidFill>
              </a:defRPr>
            </a:pPr>
            <a:r>
              <a:rPr sz="1400" dirty="0"/>
              <a:t>•   • Train Set: 10,175 images across all 5 classes (used for training &amp; validation).</a:t>
            </a:r>
          </a:p>
          <a:p>
            <a:pPr>
              <a:spcBef>
                <a:spcPts val="400"/>
              </a:spcBef>
              <a:defRPr sz="1000">
                <a:solidFill>
                  <a:srgbClr val="334155"/>
                </a:solidFill>
              </a:defRPr>
            </a:pPr>
            <a:r>
              <a:rPr sz="1400" dirty="0"/>
              <a:t>•   • Test-A Set: 4,339 images across all 5 classes (held-out evaluation benchmark).</a:t>
            </a:r>
          </a:p>
          <a:p>
            <a:pPr>
              <a:spcBef>
                <a:spcPts val="400"/>
              </a:spcBef>
              <a:defRPr sz="1000">
                <a:solidFill>
                  <a:srgbClr val="334155"/>
                </a:solidFill>
              </a:defRPr>
            </a:pPr>
            <a:r>
              <a:rPr sz="1400" dirty="0"/>
              <a:t>•   • Test-B Set: 2,119 images (Lymphocyte &amp; Neutrophil only; external hardware generalizability test).</a:t>
            </a:r>
          </a:p>
          <a:p>
            <a:pPr>
              <a:spcBef>
                <a:spcPts val="400"/>
              </a:spcBef>
              <a:defRPr sz="1000">
                <a:solidFill>
                  <a:srgbClr val="334155"/>
                </a:solidFill>
              </a:defRPr>
            </a:pPr>
            <a:r>
              <a:rPr sz="1400" dirty="0"/>
              <a:t>• 5 Target Categories: Neutrophil (61.2%), Lymphocyte (23.9%), Eosinophil (7.3%), Monocyte (5.5%), Basophil (2.1%).</a:t>
            </a:r>
          </a:p>
          <a:p>
            <a:pPr>
              <a:spcBef>
                <a:spcPts val="400"/>
              </a:spcBef>
              <a:defRPr sz="1000">
                <a:solidFill>
                  <a:srgbClr val="334155"/>
                </a:solidFill>
              </a:defRPr>
            </a:pPr>
            <a:r>
              <a:rPr sz="1400" dirty="0"/>
              <a:t>• Severe Imbalance: </a:t>
            </a:r>
            <a:r>
              <a:rPr sz="1400" dirty="0" err="1"/>
              <a:t>Majority:minority</a:t>
            </a:r>
            <a:r>
              <a:rPr sz="1400" dirty="0"/>
              <a:t> ratio is ~29.4 : 1 (Neutrophils vs. Basophils), requiring specialized loss weighting.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371600"/>
            <a:ext cx="5333695" cy="4937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representative_wbc_samp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308507"/>
            <a:ext cx="5196535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D9488"/>
                </a:solidFill>
              </a:defRPr>
            </a:pPr>
            <a:r>
              <a:t>AI/ML SPECIALISATION CAPSTONE PROJECT</a:t>
            </a:r>
          </a:p>
          <a:p>
            <a:pPr>
              <a:defRPr sz="2200" b="1">
                <a:solidFill>
                  <a:srgbClr val="0F2B5C"/>
                </a:solidFill>
              </a:defRPr>
            </a:pPr>
            <a:r>
              <a:t>Slide 3: Exploratory Data Analysis &amp; Preprocessing Pipeline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07008"/>
            <a:ext cx="10728655" cy="18288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80591" y="960120"/>
            <a:ext cx="10905667" cy="3357237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class_distribution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9513" y="978408"/>
            <a:ext cx="9225023" cy="3279295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80591" y="4353932"/>
            <a:ext cx="10905667" cy="228623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731520" y="4527999"/>
            <a:ext cx="10779889" cy="2015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2B5C"/>
                </a:solidFill>
              </a:defRPr>
            </a:pPr>
            <a:r>
              <a:rPr sz="1600" dirty="0"/>
              <a:t>Key EDA Insights &amp; Pipeline Decisions</a:t>
            </a:r>
          </a:p>
          <a:p>
            <a:pPr>
              <a:spcBef>
                <a:spcPts val="600"/>
              </a:spcBef>
              <a:defRPr sz="1000">
                <a:solidFill>
                  <a:srgbClr val="334155"/>
                </a:solidFill>
              </a:defRPr>
            </a:pPr>
            <a:r>
              <a:rPr sz="1200" dirty="0"/>
              <a:t>• Leakage-Safe Partitioning: Preserved Test-A (4,339 </a:t>
            </a:r>
            <a:r>
              <a:rPr sz="1200" dirty="0" err="1"/>
              <a:t>imgs</a:t>
            </a:r>
            <a:r>
              <a:rPr sz="1200" dirty="0"/>
              <a:t>) strictly untouched. Partitioned Train (10,175 </a:t>
            </a:r>
            <a:r>
              <a:rPr sz="1200" dirty="0" err="1"/>
              <a:t>imgs</a:t>
            </a:r>
            <a:r>
              <a:rPr sz="1200" dirty="0"/>
              <a:t>) via stratified 80/20 split (8,140 train, 2,035 </a:t>
            </a:r>
            <a:r>
              <a:rPr sz="1200" dirty="0" err="1"/>
              <a:t>val</a:t>
            </a:r>
            <a:r>
              <a:rPr sz="1200" dirty="0"/>
              <a:t>, seed 42).</a:t>
            </a:r>
          </a:p>
          <a:p>
            <a:pPr>
              <a:spcBef>
                <a:spcPts val="600"/>
              </a:spcBef>
              <a:defRPr sz="1000">
                <a:solidFill>
                  <a:srgbClr val="334155"/>
                </a:solidFill>
              </a:defRPr>
            </a:pPr>
            <a:r>
              <a:rPr sz="1200" dirty="0"/>
              <a:t>• Inverse Class Weights: Computed loss weights </a:t>
            </a:r>
            <a:r>
              <a:rPr sz="1200" dirty="0" err="1"/>
              <a:t>w_c</a:t>
            </a:r>
            <a:r>
              <a:rPr sz="1200" dirty="0"/>
              <a:t> = N / (C * </a:t>
            </a:r>
            <a:r>
              <a:rPr sz="1200" dirty="0" err="1"/>
              <a:t>N_c</a:t>
            </a:r>
            <a:r>
              <a:rPr sz="1200" dirty="0"/>
              <a:t>) to counter extreme imbalance: Basophil (2.80), Monocyte (1.06), Eosinophil (0.80), Lymphocyte (0.24), Neutrophil (0.09).</a:t>
            </a:r>
          </a:p>
          <a:p>
            <a:pPr>
              <a:spcBef>
                <a:spcPts val="600"/>
              </a:spcBef>
              <a:defRPr sz="1000">
                <a:solidFill>
                  <a:srgbClr val="334155"/>
                </a:solidFill>
              </a:defRPr>
            </a:pPr>
            <a:r>
              <a:rPr sz="1200" dirty="0"/>
              <a:t>• Spatial Standardization: All cropped images resized to 224 x 224 pixels with bilinear interpolation to match CNN receptive fields.</a:t>
            </a:r>
          </a:p>
          <a:p>
            <a:pPr>
              <a:spcBef>
                <a:spcPts val="600"/>
              </a:spcBef>
              <a:defRPr sz="1000">
                <a:solidFill>
                  <a:srgbClr val="334155"/>
                </a:solidFill>
              </a:defRPr>
            </a:pPr>
            <a:r>
              <a:rPr sz="1200" dirty="0"/>
              <a:t>• Microscopy-Specific Augmentation: Peripheral blood smears have no canonical orientation. Applied random rotations (±15°), horizontal/vertical flips (p=0.5), and color jitter (±10% brightness/contrast).</a:t>
            </a:r>
          </a:p>
          <a:p>
            <a:pPr>
              <a:spcBef>
                <a:spcPts val="600"/>
              </a:spcBef>
              <a:defRPr sz="1000">
                <a:solidFill>
                  <a:srgbClr val="334155"/>
                </a:solidFill>
              </a:defRPr>
            </a:pPr>
            <a:r>
              <a:rPr sz="1200" dirty="0"/>
              <a:t>• Strict Leakage Boundary: Augmentation is applied solely to training mini-batches; validation and test sets receive only deterministic resizing and ImageNet normalization.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D9488"/>
                </a:solidFill>
              </a:defRPr>
            </a:pPr>
            <a:r>
              <a:t>AI/ML SPECIALISATION CAPSTONE PROJECT</a:t>
            </a:r>
          </a:p>
          <a:p>
            <a:pPr>
              <a:defRPr sz="2200" b="1">
                <a:solidFill>
                  <a:srgbClr val="0F2B5C"/>
                </a:solidFill>
              </a:defRPr>
            </a:pPr>
            <a:r>
              <a:t>Slide 4: Baseline Model vs. Transfer Learning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07008"/>
            <a:ext cx="10728655" cy="18288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508760"/>
            <a:ext cx="4754880" cy="44807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2B5C"/>
                </a:solidFill>
              </a:defRPr>
            </a:pPr>
            <a:r>
              <a:rPr sz="1600" dirty="0"/>
              <a:t>1. Custom Baseline CNN (From Scratch)</a:t>
            </a:r>
          </a:p>
          <a:p>
            <a:pPr>
              <a:spcBef>
                <a:spcPts val="500"/>
              </a:spcBef>
              <a:defRPr sz="1000">
                <a:solidFill>
                  <a:srgbClr val="334155"/>
                </a:solidFill>
              </a:defRPr>
            </a:pPr>
            <a:r>
              <a:rPr sz="1600" dirty="0"/>
              <a:t>• Total Parameters: 1,439,269 (1.44 Million parameters)</a:t>
            </a:r>
          </a:p>
          <a:p>
            <a:pPr>
              <a:spcBef>
                <a:spcPts val="500"/>
              </a:spcBef>
              <a:defRPr sz="1000">
                <a:solidFill>
                  <a:srgbClr val="334155"/>
                </a:solidFill>
              </a:defRPr>
            </a:pPr>
            <a:r>
              <a:rPr sz="1600" dirty="0"/>
              <a:t>• Conv Block 1: Conv2D (3-&gt;32, 3x3), </a:t>
            </a:r>
            <a:r>
              <a:rPr sz="1600" dirty="0" err="1"/>
              <a:t>BatchNorm</a:t>
            </a:r>
            <a:r>
              <a:rPr sz="1600" dirty="0"/>
              <a:t>, </a:t>
            </a:r>
            <a:r>
              <a:rPr sz="1600" dirty="0" err="1"/>
              <a:t>ReLU</a:t>
            </a:r>
            <a:r>
              <a:rPr sz="1600" dirty="0"/>
              <a:t>, </a:t>
            </a:r>
            <a:r>
              <a:rPr sz="1600" dirty="0" err="1"/>
              <a:t>MaxPool</a:t>
            </a:r>
            <a:r>
              <a:rPr sz="1600" dirty="0"/>
              <a:t>(2x2) -&gt; 112x112</a:t>
            </a:r>
          </a:p>
          <a:p>
            <a:pPr>
              <a:spcBef>
                <a:spcPts val="500"/>
              </a:spcBef>
              <a:defRPr sz="1000">
                <a:solidFill>
                  <a:srgbClr val="334155"/>
                </a:solidFill>
              </a:defRPr>
            </a:pPr>
            <a:r>
              <a:rPr sz="1600" dirty="0"/>
              <a:t>• Conv Block 2: Conv2D (32-&gt;64, 3x3), </a:t>
            </a:r>
            <a:r>
              <a:rPr sz="1600" dirty="0" err="1"/>
              <a:t>BatchNorm</a:t>
            </a:r>
            <a:r>
              <a:rPr sz="1600" dirty="0"/>
              <a:t>, </a:t>
            </a:r>
            <a:r>
              <a:rPr sz="1600" dirty="0" err="1"/>
              <a:t>ReLU</a:t>
            </a:r>
            <a:r>
              <a:rPr sz="1600" dirty="0"/>
              <a:t>, </a:t>
            </a:r>
            <a:r>
              <a:rPr sz="1600" dirty="0" err="1"/>
              <a:t>MaxPool</a:t>
            </a:r>
            <a:r>
              <a:rPr sz="1600" dirty="0"/>
              <a:t>(2x2) -&gt; 56x56</a:t>
            </a:r>
          </a:p>
          <a:p>
            <a:pPr>
              <a:spcBef>
                <a:spcPts val="500"/>
              </a:spcBef>
              <a:defRPr sz="1000">
                <a:solidFill>
                  <a:srgbClr val="334155"/>
                </a:solidFill>
              </a:defRPr>
            </a:pPr>
            <a:r>
              <a:rPr sz="1600" dirty="0"/>
              <a:t>• Conv Block 3: Conv2D (64-&gt;128, 3x3), </a:t>
            </a:r>
            <a:r>
              <a:rPr sz="1600" dirty="0" err="1"/>
              <a:t>BatchNorm</a:t>
            </a:r>
            <a:r>
              <a:rPr sz="1600" dirty="0"/>
              <a:t>, </a:t>
            </a:r>
            <a:r>
              <a:rPr sz="1600" dirty="0" err="1"/>
              <a:t>ReLU</a:t>
            </a:r>
            <a:r>
              <a:rPr sz="1600" dirty="0"/>
              <a:t>, </a:t>
            </a:r>
            <a:r>
              <a:rPr sz="1600" dirty="0" err="1"/>
              <a:t>MaxPool</a:t>
            </a:r>
            <a:r>
              <a:rPr sz="1600" dirty="0"/>
              <a:t>(2x2) -&gt; 28x28</a:t>
            </a:r>
          </a:p>
          <a:p>
            <a:pPr>
              <a:spcBef>
                <a:spcPts val="500"/>
              </a:spcBef>
              <a:defRPr sz="1000">
                <a:solidFill>
                  <a:srgbClr val="334155"/>
                </a:solidFill>
              </a:defRPr>
            </a:pPr>
            <a:r>
              <a:rPr sz="1600" dirty="0"/>
              <a:t>• Conv Block 4: Conv2D (128-&gt;256, 3x3), </a:t>
            </a:r>
            <a:r>
              <a:rPr sz="1600" dirty="0" err="1"/>
              <a:t>BatchNorm</a:t>
            </a:r>
            <a:r>
              <a:rPr sz="1600" dirty="0"/>
              <a:t>, </a:t>
            </a:r>
            <a:r>
              <a:rPr sz="1600" dirty="0" err="1"/>
              <a:t>ReLU</a:t>
            </a:r>
            <a:r>
              <a:rPr sz="1600" dirty="0"/>
              <a:t>, </a:t>
            </a:r>
            <a:r>
              <a:rPr sz="1600" dirty="0" err="1"/>
              <a:t>AdaptiveAvgPool</a:t>
            </a:r>
            <a:r>
              <a:rPr sz="1600" dirty="0"/>
              <a:t>(4x4)</a:t>
            </a:r>
          </a:p>
          <a:p>
            <a:pPr>
              <a:spcBef>
                <a:spcPts val="500"/>
              </a:spcBef>
              <a:defRPr sz="1000">
                <a:solidFill>
                  <a:srgbClr val="334155"/>
                </a:solidFill>
              </a:defRPr>
            </a:pPr>
            <a:r>
              <a:rPr sz="1600" dirty="0"/>
              <a:t>• Classifier Head: Flatten (4096) -&gt; Linear(256), </a:t>
            </a:r>
            <a:r>
              <a:rPr sz="1600" dirty="0" err="1"/>
              <a:t>BatchNorm</a:t>
            </a:r>
            <a:r>
              <a:rPr sz="1600" dirty="0"/>
              <a:t>, </a:t>
            </a:r>
            <a:r>
              <a:rPr sz="1600" dirty="0" err="1"/>
              <a:t>ReLU</a:t>
            </a:r>
            <a:r>
              <a:rPr sz="1600" dirty="0"/>
              <a:t>, Dropout (p=0.4) -&gt; Linear(5)</a:t>
            </a:r>
          </a:p>
          <a:p>
            <a:pPr>
              <a:spcBef>
                <a:spcPts val="500"/>
              </a:spcBef>
              <a:defRPr sz="1000">
                <a:solidFill>
                  <a:srgbClr val="334155"/>
                </a:solidFill>
              </a:defRPr>
            </a:pPr>
            <a:r>
              <a:rPr sz="1600" dirty="0"/>
              <a:t>• Design Rationale: Lightweight spatial feature extractor designed to establish an empirical benchmark without external pretraining.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242255" cy="4937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0" y="1508760"/>
            <a:ext cx="4846320" cy="44165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2B5C"/>
                </a:solidFill>
              </a:defRPr>
            </a:pPr>
            <a:r>
              <a:rPr sz="1600" dirty="0"/>
              <a:t>2. MobileNetV2 (Transfer Learning)</a:t>
            </a:r>
          </a:p>
          <a:p>
            <a:pPr>
              <a:spcBef>
                <a:spcPts val="500"/>
              </a:spcBef>
              <a:defRPr sz="1000">
                <a:solidFill>
                  <a:srgbClr val="334155"/>
                </a:solidFill>
              </a:defRPr>
            </a:pPr>
            <a:r>
              <a:rPr sz="1600" dirty="0"/>
              <a:t>• Total Parameters: 2,388,485 (2.39 Million parameters)</a:t>
            </a:r>
          </a:p>
          <a:p>
            <a:pPr>
              <a:spcBef>
                <a:spcPts val="500"/>
              </a:spcBef>
              <a:defRPr sz="1000">
                <a:solidFill>
                  <a:srgbClr val="334155"/>
                </a:solidFill>
              </a:defRPr>
            </a:pPr>
            <a:r>
              <a:rPr sz="1600" dirty="0"/>
              <a:t>• Pretrained Backbone: ImageNet-1k pretrained weights; 18 Inverted Residual Bottleneck blocks with </a:t>
            </a:r>
            <a:r>
              <a:rPr sz="1600" dirty="0" err="1"/>
              <a:t>Depthwise</a:t>
            </a:r>
            <a:r>
              <a:rPr sz="1600" dirty="0"/>
              <a:t> Separable Convolutions.</a:t>
            </a:r>
          </a:p>
          <a:p>
            <a:pPr>
              <a:spcBef>
                <a:spcPts val="500"/>
              </a:spcBef>
              <a:defRPr sz="1000">
                <a:solidFill>
                  <a:srgbClr val="334155"/>
                </a:solidFill>
              </a:defRPr>
            </a:pPr>
            <a:r>
              <a:rPr sz="1600" dirty="0"/>
              <a:t>• Computational Efficiency: </a:t>
            </a:r>
            <a:r>
              <a:rPr sz="1600" dirty="0" err="1"/>
              <a:t>Depthwise</a:t>
            </a:r>
            <a:r>
              <a:rPr sz="1600" dirty="0"/>
              <a:t> separable convolutions drastically reduce FLOPs, enabling sub-40ms inference on standard CPUs.</a:t>
            </a:r>
          </a:p>
          <a:p>
            <a:pPr>
              <a:spcBef>
                <a:spcPts val="500"/>
              </a:spcBef>
              <a:defRPr sz="1000">
                <a:solidFill>
                  <a:srgbClr val="334155"/>
                </a:solidFill>
              </a:defRPr>
            </a:pPr>
            <a:r>
              <a:rPr sz="1600" dirty="0"/>
              <a:t>• Custom Head: Dropout (p=0.3) -&gt; Linear (1280-&gt;128) -&gt; </a:t>
            </a:r>
            <a:r>
              <a:rPr sz="1600" dirty="0" err="1"/>
              <a:t>ReLU</a:t>
            </a:r>
            <a:r>
              <a:rPr sz="1600" dirty="0"/>
              <a:t> -&gt; Dropout (p=0.2) -&gt; Linear (128-&gt;5).</a:t>
            </a:r>
          </a:p>
          <a:p>
            <a:pPr>
              <a:spcBef>
                <a:spcPts val="500"/>
              </a:spcBef>
              <a:defRPr sz="1000">
                <a:solidFill>
                  <a:srgbClr val="334155"/>
                </a:solidFill>
              </a:defRPr>
            </a:pPr>
            <a:r>
              <a:rPr sz="1600" dirty="0"/>
              <a:t>• Transfer Strategy: Fine-tuned end-to-end using differential learning rates (10^-4 for backbone, 10^-3 for classification head).</a:t>
            </a:r>
          </a:p>
          <a:p>
            <a:pPr>
              <a:spcBef>
                <a:spcPts val="500"/>
              </a:spcBef>
              <a:defRPr sz="1000">
                <a:solidFill>
                  <a:srgbClr val="334155"/>
                </a:solidFill>
              </a:defRPr>
            </a:pPr>
            <a:r>
              <a:rPr sz="1600" dirty="0"/>
              <a:t>• Advantage: Pretrained hierarchical filters immediately recognize complex cellular contours, nuclear folding, and chromatin texture.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D9488"/>
                </a:solidFill>
              </a:defRPr>
            </a:pPr>
            <a:r>
              <a:t>AI/ML SPECIALISATION CAPSTONE PROJECT</a:t>
            </a:r>
          </a:p>
          <a:p>
            <a:pPr>
              <a:defRPr sz="2200" b="1">
                <a:solidFill>
                  <a:srgbClr val="0F2B5C"/>
                </a:solidFill>
              </a:defRPr>
            </a:pPr>
            <a:r>
              <a:t>Slide 5: Experiment Tracking &amp; Hyperparameter Configuration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07008"/>
            <a:ext cx="10728655" cy="18288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225296"/>
            <a:ext cx="10839690" cy="2898549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mobilenet_v2_training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2932" y="1316735"/>
            <a:ext cx="9723536" cy="2807109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4215285"/>
            <a:ext cx="10839691" cy="2642715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65194" y="4300406"/>
            <a:ext cx="10194981" cy="2472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2B5C"/>
                </a:solidFill>
              </a:defRPr>
            </a:pPr>
            <a:r>
              <a:rPr sz="1600" dirty="0"/>
              <a:t>Experimental Setup &amp; Hyperparameters</a:t>
            </a:r>
          </a:p>
          <a:p>
            <a:pPr>
              <a:spcBef>
                <a:spcPts val="400"/>
              </a:spcBef>
              <a:defRPr sz="950">
                <a:solidFill>
                  <a:srgbClr val="334155"/>
                </a:solidFill>
              </a:defRPr>
            </a:pPr>
            <a:r>
              <a:rPr sz="1400" dirty="0"/>
              <a:t>• Optimization Algorithm: </a:t>
            </a:r>
            <a:r>
              <a:rPr sz="1400" dirty="0" err="1"/>
              <a:t>AdamW</a:t>
            </a:r>
            <a:r>
              <a:rPr sz="1400" dirty="0"/>
              <a:t> (weight decay = 1e-4) for decoupled regularization.</a:t>
            </a:r>
          </a:p>
          <a:p>
            <a:pPr>
              <a:spcBef>
                <a:spcPts val="400"/>
              </a:spcBef>
              <a:defRPr sz="950">
                <a:solidFill>
                  <a:srgbClr val="334155"/>
                </a:solidFill>
              </a:defRPr>
            </a:pPr>
            <a:r>
              <a:rPr sz="1400" dirty="0"/>
              <a:t>• Differential Learning Rate: Backbone features: 1e-4 | Classification Head: 1e-3.</a:t>
            </a:r>
          </a:p>
          <a:p>
            <a:pPr>
              <a:spcBef>
                <a:spcPts val="400"/>
              </a:spcBef>
              <a:defRPr sz="950">
                <a:solidFill>
                  <a:srgbClr val="334155"/>
                </a:solidFill>
              </a:defRPr>
            </a:pPr>
            <a:r>
              <a:rPr sz="1400" dirty="0"/>
              <a:t>• LR Scheduler: </a:t>
            </a:r>
            <a:r>
              <a:rPr sz="1400" dirty="0" err="1"/>
              <a:t>ReduceLROnPlateau</a:t>
            </a:r>
            <a:r>
              <a:rPr sz="1400" dirty="0"/>
              <a:t> (factor=0.5, patience=1, metric=Val Loss).</a:t>
            </a:r>
          </a:p>
          <a:p>
            <a:pPr>
              <a:spcBef>
                <a:spcPts val="400"/>
              </a:spcBef>
              <a:defRPr sz="950">
                <a:solidFill>
                  <a:srgbClr val="334155"/>
                </a:solidFill>
              </a:defRPr>
            </a:pPr>
            <a:r>
              <a:rPr sz="1400" dirty="0"/>
              <a:t>• Batch Size &amp; Epochs: Batch size: 32 | Training Epochs: 6 epochs with early checkpointing.</a:t>
            </a:r>
          </a:p>
          <a:p>
            <a:pPr>
              <a:spcBef>
                <a:spcPts val="400"/>
              </a:spcBef>
              <a:defRPr sz="950">
                <a:solidFill>
                  <a:srgbClr val="334155"/>
                </a:solidFill>
              </a:defRPr>
            </a:pPr>
            <a:r>
              <a:rPr sz="1400" dirty="0"/>
              <a:t>• Loss Function: Class-Weighted Cross-Entropy (weights: 2.80, 0.80, 0.24, 1.06, 0.09).</a:t>
            </a:r>
          </a:p>
          <a:p>
            <a:pPr>
              <a:spcBef>
                <a:spcPts val="400"/>
              </a:spcBef>
              <a:defRPr sz="950">
                <a:solidFill>
                  <a:srgbClr val="334155"/>
                </a:solidFill>
              </a:defRPr>
            </a:pPr>
            <a:r>
              <a:rPr sz="1400" dirty="0"/>
              <a:t>• Regularization: Dropout (0.3 &amp; 0.2), Gradient Clipping (</a:t>
            </a:r>
            <a:r>
              <a:rPr sz="1400" dirty="0" err="1"/>
              <a:t>max_norm</a:t>
            </a:r>
            <a:r>
              <a:rPr sz="1400" dirty="0"/>
              <a:t>=2.0), Weight Decay.</a:t>
            </a:r>
          </a:p>
          <a:p>
            <a:pPr>
              <a:spcBef>
                <a:spcPts val="400"/>
              </a:spcBef>
              <a:defRPr sz="950">
                <a:solidFill>
                  <a:srgbClr val="334155"/>
                </a:solidFill>
              </a:defRPr>
            </a:pPr>
            <a:r>
              <a:rPr sz="1400" dirty="0"/>
              <a:t>• Checkpoint Criterion: Optimal model weights saved based on highest Validation Macro F1.</a:t>
            </a:r>
          </a:p>
          <a:p>
            <a:pPr>
              <a:spcBef>
                <a:spcPts val="400"/>
              </a:spcBef>
              <a:defRPr sz="950">
                <a:solidFill>
                  <a:srgbClr val="334155"/>
                </a:solidFill>
              </a:defRPr>
            </a:pPr>
            <a:r>
              <a:rPr sz="1400" dirty="0"/>
              <a:t>• Experiment Tracking: Logged epoch loss, accuracy, macro F1, and learning rates to JSON.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D9488"/>
                </a:solidFill>
              </a:defRPr>
            </a:pPr>
            <a:r>
              <a:t>AI/ML SPECIALISATION CAPSTONE PROJECT</a:t>
            </a:r>
          </a:p>
          <a:p>
            <a:pPr>
              <a:defRPr sz="2200" b="1">
                <a:solidFill>
                  <a:srgbClr val="0F2B5C"/>
                </a:solidFill>
              </a:defRPr>
            </a:pPr>
            <a:r>
              <a:t>Slide 6: Quantitative Evaluation Results &amp; In-Depth Error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07008"/>
            <a:ext cx="10728655" cy="18288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19" y="1243585"/>
            <a:ext cx="10728655" cy="3224706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model_comparison_bench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6148" y="1216152"/>
            <a:ext cx="8001781" cy="3200713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4468291"/>
            <a:ext cx="10728654" cy="236540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1" y="4619154"/>
            <a:ext cx="10728654" cy="21441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2B5C"/>
                </a:solidFill>
              </a:defRPr>
            </a:pPr>
            <a:r>
              <a:rPr dirty="0"/>
              <a:t>Held-Out Test-A Benchmark (1,000 </a:t>
            </a:r>
            <a:r>
              <a:rPr dirty="0" err="1"/>
              <a:t>Imgs</a:t>
            </a:r>
            <a:r>
              <a:rPr dirty="0"/>
              <a:t>)</a:t>
            </a:r>
          </a:p>
          <a:p>
            <a:pPr>
              <a:spcBef>
                <a:spcPts val="400"/>
              </a:spcBef>
              <a:defRPr sz="950">
                <a:solidFill>
                  <a:srgbClr val="334155"/>
                </a:solidFill>
              </a:defRPr>
            </a:pPr>
            <a:r>
              <a:rPr sz="1200" dirty="0"/>
              <a:t>• Overall Test Accuracy: MobileNetV2: 91.20% vs. Baseline CNN: 89.40% (+1.80% gain).</a:t>
            </a:r>
          </a:p>
          <a:p>
            <a:pPr>
              <a:spcBef>
                <a:spcPts val="400"/>
              </a:spcBef>
              <a:defRPr sz="950">
                <a:solidFill>
                  <a:srgbClr val="334155"/>
                </a:solidFill>
              </a:defRPr>
            </a:pPr>
            <a:r>
              <a:rPr sz="1200" dirty="0"/>
              <a:t>• Macro F1-Score: MobileNetV2: 89.77% vs. Baseline CNN: 84.47% (+5.30% gain).</a:t>
            </a:r>
          </a:p>
          <a:p>
            <a:pPr>
              <a:spcBef>
                <a:spcPts val="400"/>
              </a:spcBef>
              <a:defRPr sz="950">
                <a:solidFill>
                  <a:srgbClr val="334155"/>
                </a:solidFill>
              </a:defRPr>
            </a:pPr>
            <a:r>
              <a:rPr sz="1200" dirty="0"/>
              <a:t>• Macro Recall &amp; Precision: Recall: 95.67% (+5.99%) | Precision: 87.51% (+5.77%).</a:t>
            </a:r>
          </a:p>
          <a:p>
            <a:pPr>
              <a:spcBef>
                <a:spcPts val="400"/>
              </a:spcBef>
              <a:defRPr sz="950">
                <a:solidFill>
                  <a:srgbClr val="334155"/>
                </a:solidFill>
              </a:defRPr>
            </a:pPr>
            <a:r>
              <a:rPr sz="1200" dirty="0"/>
              <a:t>• Monocyte Breakthrough (+31% F1): Baseline F1 was 61.7% due to confusion with lymphocytes and band neutrophils. MobileNetV2 lifted F1 to 92.7% (precision 91.1%, recall 94.4%).</a:t>
            </a:r>
          </a:p>
          <a:p>
            <a:pPr>
              <a:spcBef>
                <a:spcPts val="400"/>
              </a:spcBef>
              <a:defRPr sz="950">
                <a:solidFill>
                  <a:srgbClr val="334155"/>
                </a:solidFill>
              </a:defRPr>
            </a:pPr>
            <a:r>
              <a:rPr sz="1200" dirty="0"/>
              <a:t>• Flawless Basophil Detection: 100.0% precision and 100.0% recall achieved on the rarest class (~2.1% support), verifying loss weight efficacy.</a:t>
            </a:r>
          </a:p>
          <a:p>
            <a:pPr>
              <a:spcBef>
                <a:spcPts val="400"/>
              </a:spcBef>
              <a:defRPr sz="950">
                <a:solidFill>
                  <a:srgbClr val="334155"/>
                </a:solidFill>
              </a:defRPr>
            </a:pPr>
            <a:r>
              <a:rPr sz="1200" dirty="0"/>
              <a:t>• Known Failure Mode: Eosinophil achieved 98.6% recall but 48.3% precision, as neutrophils with dense granular cytoplasm were occasionally flagged as eosinophils.</a:t>
            </a:r>
          </a:p>
          <a:p>
            <a:pPr>
              <a:spcBef>
                <a:spcPts val="400"/>
              </a:spcBef>
              <a:defRPr sz="950">
                <a:solidFill>
                  <a:srgbClr val="334155"/>
                </a:solidFill>
              </a:defRPr>
            </a:pPr>
            <a:r>
              <a:rPr sz="1200" dirty="0"/>
              <a:t>• Sub-40ms Inference: Latency on standard CPU is 37.99 </a:t>
            </a:r>
            <a:r>
              <a:rPr sz="1200" dirty="0" err="1"/>
              <a:t>ms</a:t>
            </a:r>
            <a:r>
              <a:rPr sz="1200" dirty="0"/>
              <a:t>/image, ideal for real-time app.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D9488"/>
                </a:solidFill>
              </a:defRPr>
            </a:pPr>
            <a:r>
              <a:t>AI/ML SPECIALISATION CAPSTONE PROJECT</a:t>
            </a:r>
          </a:p>
          <a:p>
            <a:pPr>
              <a:defRPr sz="2200" b="1">
                <a:solidFill>
                  <a:srgbClr val="0F2B5C"/>
                </a:solidFill>
              </a:defRPr>
            </a:pPr>
            <a:r>
              <a:t>Slide 7: Interactive Streamlit Demonstration &amp; Inference Pipeline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07008"/>
            <a:ext cx="10728655" cy="18288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303520" cy="4937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508760"/>
            <a:ext cx="4937760" cy="42037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2B5C"/>
                </a:solidFill>
              </a:defRPr>
            </a:pPr>
            <a:r>
              <a:rPr dirty="0" err="1"/>
              <a:t>Streamlit</a:t>
            </a:r>
            <a:r>
              <a:rPr dirty="0"/>
              <a:t> Application Architecture</a:t>
            </a:r>
          </a:p>
          <a:p>
            <a:pPr>
              <a:spcBef>
                <a:spcPts val="500"/>
              </a:spcBef>
              <a:defRPr sz="1000">
                <a:solidFill>
                  <a:srgbClr val="334155"/>
                </a:solidFill>
              </a:defRPr>
            </a:pPr>
            <a:r>
              <a:rPr sz="1400" dirty="0"/>
              <a:t>• Deployment Target: Interactive </a:t>
            </a:r>
            <a:r>
              <a:rPr sz="1400" dirty="0" err="1"/>
              <a:t>Streamlit</a:t>
            </a:r>
            <a:r>
              <a:rPr sz="1400" dirty="0"/>
              <a:t> web application (app/app.py) loading saved checkpoints without retraining.</a:t>
            </a:r>
          </a:p>
          <a:p>
            <a:pPr>
              <a:spcBef>
                <a:spcPts val="500"/>
              </a:spcBef>
              <a:defRPr sz="1000">
                <a:solidFill>
                  <a:srgbClr val="334155"/>
                </a:solidFill>
              </a:defRPr>
            </a:pPr>
            <a:r>
              <a:rPr sz="1400" dirty="0"/>
              <a:t>• Dual Model Selector: Seamlessly toggle between Pretrained MobileNetV2 (Recommended) and Custom Baseline CNN.</a:t>
            </a:r>
          </a:p>
          <a:p>
            <a:pPr>
              <a:spcBef>
                <a:spcPts val="500"/>
              </a:spcBef>
              <a:defRPr sz="1000">
                <a:solidFill>
                  <a:srgbClr val="334155"/>
                </a:solidFill>
              </a:defRPr>
            </a:pPr>
            <a:r>
              <a:rPr sz="1400" dirty="0"/>
              <a:t>• File Drag-and-Drop: Accepts cropped JPG, JPEG, and PNG smear images with instant resolution and color-space validation.</a:t>
            </a:r>
          </a:p>
          <a:p>
            <a:pPr>
              <a:spcBef>
                <a:spcPts val="500"/>
              </a:spcBef>
              <a:defRPr sz="1000">
                <a:solidFill>
                  <a:srgbClr val="334155"/>
                </a:solidFill>
              </a:defRPr>
            </a:pPr>
            <a:r>
              <a:rPr sz="1400" dirty="0"/>
              <a:t>• Real-Time Probabilities: Renders horizontal </a:t>
            </a:r>
            <a:r>
              <a:rPr sz="1400" dirty="0" err="1"/>
              <a:t>Softmax</a:t>
            </a:r>
            <a:r>
              <a:rPr sz="1400" dirty="0"/>
              <a:t> probability distributions across all 5 classes with class-specific color coding.</a:t>
            </a:r>
          </a:p>
          <a:p>
            <a:pPr>
              <a:spcBef>
                <a:spcPts val="500"/>
              </a:spcBef>
              <a:defRPr sz="1000">
                <a:solidFill>
                  <a:srgbClr val="334155"/>
                </a:solidFill>
              </a:defRPr>
            </a:pPr>
            <a:r>
              <a:rPr sz="1400" dirty="0"/>
              <a:t>• Clinical Feature Cards: Displays cell morphology hallmarks (nuclear segments, granules, N:C ratio) for the predicted leukocyte.</a:t>
            </a:r>
          </a:p>
          <a:p>
            <a:pPr>
              <a:spcBef>
                <a:spcPts val="500"/>
              </a:spcBef>
              <a:defRPr sz="1000">
                <a:solidFill>
                  <a:srgbClr val="334155"/>
                </a:solidFill>
              </a:defRPr>
            </a:pPr>
            <a:r>
              <a:rPr sz="1400" dirty="0"/>
              <a:t>• Curated Sample Gallery: Includes 5 high-confidence test buttons for all classes plus 1 documented authentic failure case for transparent auditing.</a:t>
            </a:r>
          </a:p>
          <a:p>
            <a:pPr>
              <a:spcBef>
                <a:spcPts val="500"/>
              </a:spcBef>
              <a:defRPr sz="1000">
                <a:solidFill>
                  <a:srgbClr val="334155"/>
                </a:solidFill>
              </a:defRPr>
            </a:pPr>
            <a:r>
              <a:rPr sz="1400" dirty="0"/>
              <a:t>• 1-Click Launchers: Packaged with run_app.bat and run_app.ps1 for frictionless execution on Windows environments.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371600"/>
            <a:ext cx="5150815" cy="4937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mobilenet_v2_test_c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600200"/>
            <a:ext cx="4785055" cy="441746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D9488"/>
                </a:solidFill>
              </a:defRPr>
            </a:pPr>
            <a:r>
              <a:t>AI/ML SPECIALISATION CAPSTONE PROJECT</a:t>
            </a:r>
          </a:p>
          <a:p>
            <a:pPr>
              <a:defRPr sz="2200" b="1">
                <a:solidFill>
                  <a:srgbClr val="0F2B5C"/>
                </a:solidFill>
              </a:defRPr>
            </a:pPr>
            <a:r>
              <a:t>Slide 8: Risks, Limitations, Ethical Governance &amp; Future Roadmap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07008"/>
            <a:ext cx="10728655" cy="18288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508760"/>
            <a:ext cx="4754880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2B5C"/>
                </a:solidFill>
              </a:defRPr>
            </a:pPr>
            <a:r>
              <a:rPr sz="1600" dirty="0"/>
              <a:t>Risks, Limitations &amp; Clinical Governance</a:t>
            </a:r>
          </a:p>
          <a:p>
            <a:pPr>
              <a:spcBef>
                <a:spcPts val="600"/>
              </a:spcBef>
              <a:defRPr sz="1000">
                <a:solidFill>
                  <a:srgbClr val="334155"/>
                </a:solidFill>
              </a:defRPr>
            </a:pPr>
            <a:r>
              <a:rPr sz="1600" dirty="0"/>
              <a:t>• Non-Diagnostic Status: Educational &amp; research proof-of-concept. Not approved for clinical diagnosis or patient management. Pathologist oversight is mandatory.</a:t>
            </a:r>
          </a:p>
          <a:p>
            <a:pPr>
              <a:spcBef>
                <a:spcPts val="600"/>
              </a:spcBef>
              <a:defRPr sz="1000">
                <a:solidFill>
                  <a:srgbClr val="334155"/>
                </a:solidFill>
              </a:defRPr>
            </a:pPr>
            <a:r>
              <a:rPr sz="1600" dirty="0"/>
              <a:t>• Generalizability Bottleneck (Test-B): External Test-B showed dramatic accuracy drops (&lt;9%), validating Tavakoli et al. (2021) that optical sensor and stain variance impede naive cross-domain deployment.</a:t>
            </a:r>
          </a:p>
          <a:p>
            <a:pPr>
              <a:spcBef>
                <a:spcPts val="600"/>
              </a:spcBef>
              <a:defRPr sz="1000">
                <a:solidFill>
                  <a:srgbClr val="334155"/>
                </a:solidFill>
              </a:defRPr>
            </a:pPr>
            <a:r>
              <a:rPr sz="1600" dirty="0"/>
              <a:t>• Pre-Cropped Input Dependency: Pipeline requires pre-segmented individual cells; cannot process whole-slide gigapixel smears directly.</a:t>
            </a:r>
          </a:p>
          <a:p>
            <a:pPr>
              <a:spcBef>
                <a:spcPts val="600"/>
              </a:spcBef>
              <a:defRPr sz="1000">
                <a:solidFill>
                  <a:srgbClr val="334155"/>
                </a:solidFill>
              </a:defRPr>
            </a:pPr>
            <a:r>
              <a:rPr sz="1600" dirty="0"/>
              <a:t>• Stain &amp; Illumination Sensitivity: Optimized for standard Wright-Giemsa Romanowsky staining; atypical lab protocols require domain recalibration.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242255" cy="4937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0" y="1508760"/>
            <a:ext cx="4846320" cy="46628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2B5C"/>
                </a:solidFill>
              </a:defRPr>
            </a:pPr>
            <a:r>
              <a:rPr sz="1600" dirty="0"/>
              <a:t>Future Technical &amp; Clinical Roadmap</a:t>
            </a:r>
          </a:p>
          <a:p>
            <a:pPr>
              <a:spcBef>
                <a:spcPts val="600"/>
              </a:spcBef>
              <a:defRPr sz="1000">
                <a:solidFill>
                  <a:srgbClr val="334155"/>
                </a:solidFill>
              </a:defRPr>
            </a:pPr>
            <a:r>
              <a:rPr sz="1600" dirty="0"/>
              <a:t>• Optical Stain Harmonization: Integrate </a:t>
            </a:r>
            <a:r>
              <a:rPr sz="1600" dirty="0" err="1"/>
              <a:t>Macenko</a:t>
            </a:r>
            <a:r>
              <a:rPr sz="1600" dirty="0"/>
              <a:t> or Reinhard stain normalization as an initial preprocessing stage to resolve cross-camera domain shifts.</a:t>
            </a:r>
          </a:p>
          <a:p>
            <a:pPr>
              <a:spcBef>
                <a:spcPts val="600"/>
              </a:spcBef>
              <a:defRPr sz="1000">
                <a:solidFill>
                  <a:srgbClr val="334155"/>
                </a:solidFill>
              </a:defRPr>
            </a:pPr>
            <a:r>
              <a:rPr sz="1600" dirty="0"/>
              <a:t>• End-to-End Whole-Slide Detection: Couple YOLOv8 or Faster R-CNN for automated leukocyte detection and cropping directly from full peripheral blood smear images.</a:t>
            </a:r>
          </a:p>
          <a:p>
            <a:pPr>
              <a:spcBef>
                <a:spcPts val="600"/>
              </a:spcBef>
              <a:defRPr sz="1000">
                <a:solidFill>
                  <a:srgbClr val="334155"/>
                </a:solidFill>
              </a:defRPr>
            </a:pPr>
            <a:r>
              <a:rPr sz="1600" dirty="0"/>
              <a:t>• Explainable AI (Grad-CAM): Incorporate Grad-CAM heatmaps in the </a:t>
            </a:r>
            <a:r>
              <a:rPr sz="1600" dirty="0" err="1"/>
              <a:t>Streamlit</a:t>
            </a:r>
            <a:r>
              <a:rPr sz="1600" dirty="0"/>
              <a:t> interface to visualize cellular regions (nuclear lobes vs. granules) driving predictions.</a:t>
            </a:r>
          </a:p>
          <a:p>
            <a:pPr>
              <a:spcBef>
                <a:spcPts val="600"/>
              </a:spcBef>
              <a:defRPr sz="1000">
                <a:solidFill>
                  <a:srgbClr val="334155"/>
                </a:solidFill>
              </a:defRPr>
            </a:pPr>
            <a:r>
              <a:rPr sz="1600" dirty="0"/>
              <a:t>• Hematologic Malignancy Expansion: Extend classification from 5 normal mature cell types to blast cells, immature granulocytes, and atypical lymphoid cells (e.g. leukemia screening).</a:t>
            </a:r>
          </a:p>
          <a:p>
            <a:pPr>
              <a:spcBef>
                <a:spcPts val="600"/>
              </a:spcBef>
              <a:defRPr sz="1000">
                <a:solidFill>
                  <a:srgbClr val="334155"/>
                </a:solidFill>
              </a:defRPr>
            </a:pPr>
            <a:r>
              <a:rPr sz="1600" dirty="0"/>
              <a:t>• Clinical Prospective Validation: Multi-center clinical trials across diverse hospital hematology analyzers.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1582</Words>
  <Application>Microsoft Office PowerPoint</Application>
  <PresentationFormat>Widescreen</PresentationFormat>
  <Paragraphs>94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Sigin George</cp:lastModifiedBy>
  <cp:revision>3</cp:revision>
  <dcterms:created xsi:type="dcterms:W3CDTF">2013-01-27T09:14:16Z</dcterms:created>
  <dcterms:modified xsi:type="dcterms:W3CDTF">2026-10-17T16:59:05Z</dcterms:modified>
  <cp:category/>
</cp:coreProperties>
</file>