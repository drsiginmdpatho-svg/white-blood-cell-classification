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74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88720" y="1097280"/>
            <a:ext cx="981425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AI / ML SPECIALISATION CAPSTONE PROJECT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Peripheral Blood Smear White Blood Cell</a:t>
            </a:r>
            <a:br/>
            <a:r>
              <a:t>Classification Using Deep Learning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Automated Morphological Categorization of Leukocyte Subtypes via Custom CNN &amp; Transfer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3840480"/>
            <a:ext cx="6217920" cy="1920240"/>
          </a:xfrm>
          <a:prstGeom prst="roundRect">
            <a:avLst/>
          </a:prstGeom>
          <a:solidFill>
            <a:srgbClr val="1A3A6E"/>
          </a:solidFill>
          <a:ln>
            <a:solidFill>
              <a:srgbClr val="28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5852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Clinical Problem Statement &amp; Context: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White blood cell (WBC) differential analysis is a cornerstone of hematological diagnostics.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Manual microscopy is labor-intensive, operator-dependent, and prone to diagnostic fatigue.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Objective: Build an end-to-end computer vision pipeline to classify cropped WBCs into 5 subtypes: Neutrophils, Lymphocytes, Monocytes, Eosinophils, and Basophils.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• Clinical Goal: Provide rapid, reproducible decision-support with sub-40ms CPU inference.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3840480"/>
            <a:ext cx="3383280" cy="1920240"/>
          </a:xfrm>
          <a:prstGeom prst="roundRect">
            <a:avLst/>
          </a:prstGeom>
          <a:solidFill>
            <a:srgbClr val="1A3A6E"/>
          </a:solidFill>
          <a:ln>
            <a:solidFill>
              <a:srgbClr val="28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39319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Project Metadata: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Domain: Healthcare AI / Computer Vision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Programme: Hero Vired AI/ML Specialisation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Framework: PyTorch 2.14 &amp; Streamlit 1.66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Hardware: AMD Ryzen 7 5700U (8-Core CPU)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</a:defRPr>
            </a:pPr>
            <a:r>
              <a:t>Project Type: Individual Capstone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2: Dataset Source, Access Method, Data Size &amp; Sample Images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Dataset Specification &amp; Structure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Source &amp; Access: White Blood Cells Dataset by Masoud Nickparvar (Kaggle), derived from the Raabin-WBC repository (Tavakoli et al., 2021).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Total Verified Volume: 16,633 RGB images in JPG format (resolutions 492x487 to 575x575 px). Zero file corruption detected.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Split Verification: Three distinct directories with 0 cross-split filename leakage: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  • Train Set: 10,175 images across all 5 classes (used for training &amp; validation).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  • Test-A Set: 4,339 images across all 5 classes (held-out evaluation benchmark).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  • Test-B Set: 2,119 images (Lymphocyte &amp; Neutrophil only; external hardware generalizability test).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5 Target Categories: Neutrophil (61.2%), Lymphocyte (23.9%), Eosinophil (7.3%), Monocyte (5.5%), Basophil (2.1%).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Severe Imbalance: Majority:minority ratio is ~29.4 : 1 (Neutrophils vs. Basophils), requiring specialized loss weighting.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33369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presentative_wbc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08760"/>
            <a:ext cx="5059375" cy="64624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3: Exploratory Data Analysis &amp; Preprocessing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66928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lass_distribu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5394960" cy="19920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75120" y="1371600"/>
            <a:ext cx="478505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3891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Key EDA Insights &amp; Pipeline Decisions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Leakage-Safe Partitioning: Preserved Test-A (4,339 imgs) strictly untouched. Partitioned Train (10,175 imgs) via stratified 80/20 split (8,140 train, 2,035 val, seed 42).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Inverse Class Weights: Computed loss weights w_c = N / (C * N_c) to counter extreme imbalance: Basophil (2.80), Monocyte (1.06), Eosinophil (0.80), Lymphocyte (0.24), Neutrophil (0.09).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Spatial Standardization: All cropped images resized to 224 x 224 pixels with bilinear interpolation to match CNN receptive fields.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Microscopy-Specific Augmentation: Peripheral blood smears have no canonical orientation. Applied random rotations (±15°), horizontal/vertical flips (p=0.5), and color jitter (±10% brightness/contrast).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Strict Leakage Boundary: Augmentation is applied solely to training mini-batches; validation and test sets receive only deterministic resizing and ImageNet normalization.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4: Baseline Model vs. Transfer Learning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1. Custom Baseline CNN (From Scratch)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Total Parameters: 1,439,269 (1.44 Million parameters)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Conv Block 1: Conv2D (3-&gt;32, 3x3), BatchNorm, ReLU, MaxPool(2x2) -&gt; 112x112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Conv Block 2: Conv2D (32-&gt;64, 3x3), BatchNorm, ReLU, MaxPool(2x2) -&gt; 56x56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Conv Block 3: Conv2D (64-&gt;128, 3x3), BatchNorm, ReLU, MaxPool(2x2) -&gt; 28x28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Conv Block 4: Conv2D (128-&gt;256, 3x3), BatchNorm, ReLU, AdaptiveAvgPool(4x4)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Classifier Head: Flatten (4096) -&gt; Linear(256), BatchNorm, ReLU, Dropout (p=0.4) -&gt; Linear(5)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Design Rationale: Lightweight spatial feature extractor designed to establish an empirical benchmark without external pretraining.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2. MobileNetV2 (Transfer Learning)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Total Parameters: 2,388,485 (2.39 Million parameters)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Pretrained Backbone: ImageNet-1k pretrained weights; 18 Inverted Residual Bottleneck blocks with Depthwise Separable Convolutions.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Computational Efficiency: Depthwise separable convolutions drastically reduce FLOPs, enabling sub-40ms inference on standard CPUs.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Custom Head: Dropout (p=0.3) -&gt; Linear (1280-&gt;128) -&gt; ReLU -&gt; Dropout (p=0.2) -&gt; Linear (128-&gt;5).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Transfer Strategy: Fine-tuned end-to-end using differential learning rates (10^-4 for backbone, 10^-3 for classification head).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Advantage: Pretrained hierarchical filters immediately recognize complex cellular contours, nuclear folding, and chromatin texture.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5: Experiment Tracking &amp; Hyperparameter Configuration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94360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obilenet_v2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669280" cy="163667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1073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0" y="150876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Experimental Setup &amp; Hyperparameters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Optimization Algorithm: AdamW (weight decay = 1e-4) for decoupled regularization.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Differential Learning Rate: Backbone features: 1e-4 | Classification Head: 1e-3.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LR Scheduler: ReduceLROnPlateau (factor=0.5, patience=1, metric=Val Loss).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Batch Size &amp; Epochs: Batch size: 32 | Training Epochs: 6 epochs with early checkpointing.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Loss Function: Class-Weighted Cross-Entropy (weights: 2.80, 0.80, 0.24, 1.06, 0.09).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Regularization: Dropout (0.3 &amp; 0.2), Gradient Clipping (max_norm=2.0), Weight Decay.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Checkpoint Criterion: Optimal model weights saved based on highest Validation Macro F1.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Experiment Tracking: Logged epoch loss, accuracy, macro F1, and learning rates to 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6: Quantitative Evaluation Results &amp; In-Depth Error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odel_comparison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5303520" cy="21214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371600"/>
            <a:ext cx="496793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50876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Held-Out Test-A Benchmark (1,000 Imgs)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Overall Test Accuracy: MobileNetV2: 91.20% vs. Baseline CNN: 89.40% (+1.80% gain).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Macro F1-Score: MobileNetV2: 89.77% vs. Baseline CNN: 84.47% (+5.30% gain).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Macro Recall &amp; Precision: Recall: 95.67% (+5.99%) | Precision: 87.51% (+5.77%).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Monocyte Breakthrough (+31% F1): Baseline F1 was 61.7% due to confusion with lymphocytes and band neutrophils. MobileNetV2 lifted F1 to 92.7% (precision 91.1%, recall 94.4%).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Flawless Basophil Detection: 100.0% precision and 100.0% recall achieved on the rarest class (~2.1% support), verifying loss weight efficacy.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Known Failure Mode: Eosinophil achieved 98.6% recall but 48.3% precision, as neutrophils with dense granular cytoplasm were occasionally flagged as eosinophils.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</a:defRPr>
            </a:pPr>
            <a:r>
              <a:t>• Sub-40ms Inference: Latency on standard CPU is 37.99 ms/image, ideal for real-time 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7: Interactive Streamlit Demonstration &amp; Inference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Streamlit Application Architecture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Deployment Target: Interactive Streamlit web application (app/app.py) loading saved checkpoints without retraining.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Dual Model Selector: Seamlessly toggle between Pretrained MobileNetV2 (Recommended) and Custom Baseline CNN.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File Drag-and-Drop: Accepts cropped JPG, JPEG, and PNG smear images with instant resolution and color-space validation.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Real-Time Probabilities: Renders horizontal Softmax probability distributions across all 5 classes with class-specific color coding.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Clinical Feature Cards: Displays cell morphology hallmarks (nuclear segments, granules, N:C ratio) for the predicted leukocyte.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Curated Sample Gallery: Includes 5 high-confidence test buttons for all classes plus 1 documented authentic failure case for transparent auditing.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</a:defRPr>
            </a:pPr>
            <a:r>
              <a:t>• 1-Click Launchers: Packaged with run_app.bat and run_app.ps1 for frictionless execution on Windows environments.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5081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bilenet_v2_test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00200"/>
            <a:ext cx="4785055" cy="44174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AI/ML SPECIALISATION CAPSTONE PROJECT</a:t>
            </a:r>
          </a:p>
          <a:p>
            <a:pPr>
              <a:defRPr sz="2200" b="1">
                <a:solidFill>
                  <a:srgbClr val="0F2B5C"/>
                </a:solidFill>
              </a:defRPr>
            </a:pPr>
            <a:r>
              <a:t>Slide 8: Risks, Limitations, Ethical Governance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Risks, Limitations &amp; Clinical Governance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Non-Diagnostic Status: Educational &amp; research proof-of-concept. Not approved for clinical diagnosis or patient management. Pathologist oversight is mandatory.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Generalizability Bottleneck (Test-B): External Test-B showed dramatic accuracy drops (&lt;9%), validating Tavakoli et al. (2021) that optical sensor and stain variance impede naive cross-domain deployment.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Pre-Cropped Input Dependency: Pipeline requires pre-segmented individual cells; cannot process whole-slide gigapixel smears directly.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Stain &amp; Illumination Sensitivity: Optimized for standard Wright-Giemsa Romanowsky staining; atypical lab protocols require domain recalibration.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B5C"/>
                </a:solidFill>
              </a:defRPr>
            </a:pPr>
            <a:r>
              <a:t>Future Technical &amp; Clinical Roadmap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Optical Stain Harmonization: Integrate Macenko or Reinhard stain normalization as an initial preprocessing stage to resolve cross-camera domain shifts.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End-to-End Whole-Slide Detection: Couple YOLOv8 or Faster R-CNN for automated leukocyte detection and cropping directly from full peripheral blood smear images.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Explainable AI (Grad-CAM): Incorporate Grad-CAM heatmaps in the Streamlit interface to visualize cellular regions (nuclear lobes vs. granules) driving predictions.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Hematologic Malignancy Expansion: Extend classification from 5 normal mature cell types to blast cells, immature granulocytes, and atypical lymphoid cells (e.g. leukemia screening).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Clinical Prospective Validation: Multi-center clinical trials across diverse hospital hematology analyzers.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1585</Words>
  <Application>Microsoft Office PowerPoint</Application>
  <PresentationFormat>Widescreen</PresentationFormat>
  <Paragraphs>94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Sigin George</cp:lastModifiedBy>
  <cp:revision>2</cp:revision>
  <dcterms:created xsi:type="dcterms:W3CDTF">2013-01-27T09:14:16Z</dcterms:created>
  <dcterms:modified xsi:type="dcterms:W3CDTF">2026-10-17T16:17:00Z</dcterms:modified>
  <cp:category/>
</cp:coreProperties>
</file>